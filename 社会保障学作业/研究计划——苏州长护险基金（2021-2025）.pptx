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基金收入</c:f>
              <c:strCache>
                <c:ptCount val="1"/>
                <c:pt idx="0">
                  <c:v>基金收入</c:v>
                </c:pt>
              </c:strCache>
            </c:strRef>
          </c:tx>
          <c:spPr>
            <a:solidFill>
              <a:srgbClr val="4C7A5A"/>
            </a:solidFill>
            <a:ln>
              <a:noFill/>
            </a:ln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{"2021","2022","2023","2024","2025"}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{6.74,7.67,10.47,10.75,10.97}</c:f>
              <c:numCache>
                <c:formatCode>General</c:formatCode>
                <c:ptCount val="5"/>
                <c:pt idx="0">
                  <c:v>6.74</c:v>
                </c:pt>
                <c:pt idx="1">
                  <c:v>7.67</c:v>
                </c:pt>
                <c:pt idx="2">
                  <c:v>10.47</c:v>
                </c:pt>
                <c:pt idx="3">
                  <c:v>10.75</c:v>
                </c:pt>
                <c:pt idx="4">
                  <c:v>10.97</c:v>
                </c:pt>
              </c:numCache>
            </c:numRef>
          </c:val>
        </c:ser>
        <c:ser>
          <c:idx val="1"/>
          <c:order val="1"/>
          <c:tx>
            <c:strRef>
              <c:f>基金支出</c:f>
              <c:strCache>
                <c:ptCount val="1"/>
                <c:pt idx="0">
                  <c:v>基金支出</c:v>
                </c:pt>
              </c:strCache>
            </c:strRef>
          </c:tx>
          <c:spPr>
            <a:solidFill>
              <a:srgbClr val="B2BCAC"/>
            </a:solidFill>
            <a:ln>
              <a:noFill/>
            </a:ln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{"2021","2022","2023","2024","2025"}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{5.73,4.69,5.77,6.81,7.8}</c:f>
              <c:numCache>
                <c:formatCode>General</c:formatCode>
                <c:ptCount val="5"/>
                <c:pt idx="0">
                  <c:v>5.73</c:v>
                </c:pt>
                <c:pt idx="1">
                  <c:v>4.69</c:v>
                </c:pt>
                <c:pt idx="2">
                  <c:v>5.77</c:v>
                </c:pt>
                <c:pt idx="3">
                  <c:v>6.81</c:v>
                </c:pt>
                <c:pt idx="4">
                  <c:v>7.8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754001152"/>
        <c:axId val="753999904"/>
      </c:barChart>
      <c:catAx>
        <c:axId val="7540011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0" spcFirstLastPara="1" vertOverflow="ellipsis" vert="horz" wrap="square" anchor="ctr" anchorCtr="1"/>
          <a:lstStyle/>
          <a:p>
            <a:pPr>
              <a:defRPr lang="zh-CN"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53999904"/>
        <c:crosses val="min"/>
        <c:auto val="1"/>
        <c:lblAlgn val="ctr"/>
        <c:lblOffset val="100"/>
        <c:noMultiLvlLbl val="0"/>
      </c:catAx>
      <c:valAx>
        <c:axId val="753999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F8F8F6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54001152"/>
        <c:crosses val="min"/>
        <c:crossBetween val="between"/>
      </c:valAx>
      <c:spPr>
        <a:noFill/>
        <a:ln>
          <a:noFill/>
        </a:ln>
      </c:spPr>
    </c:plotArea>
    <c:legend>
      <c:legendPos val="t"/>
      <c:layout/>
      <c:overlay val="0"/>
      <c:txPr>
        <a:bodyPr rot="0" spcFirstLastPara="0" vertOverflow="ellipsis" vert="horz" wrap="square" anchor="ctr" anchorCtr="0"/>
        <a:lstStyle/>
        <a:p>
          <a:pPr>
            <a:defRPr lang="zh-CN"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89d8443-468c-475f-8457-0982078944e9}"/>
      </c:ext>
    </c:extLst>
  </c:chart>
  <c:spPr>
    <a:noFill/>
    <a:ln w="9525" cap="flat" cmpd="sng" algn="ctr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同学好。这是我的研究计划，聚焦苏州长期护理保险基金。标题点明核心问题：2023年筹资改革把基金从依附医保划转推向三方共担之后，基金收支结构究竟发生了怎样的变化？我观察2021至2025这五年、断点前后两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长期护理保险、即所谓"第六险"，从2012年青岛先行到2026年全国推开，试点已十年。全国覆盖超过3亿人，但城市层面账本不透明：筹资规则碎片化，没有一个城市公开连续可比的账本。苏州是例外——它逐年公开、精确到万元，因此成为可观察的案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就是问题所在。2023年苏州筹资改革后，收入跳升36.5%、突破十亿。但支出持续上升，收支比从约55%升到71%，当期结余在2023年见顶后连续两年收窄。我强调这只是描述性观察，不作因果判断，2022年的回落作为离群点处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提出三个描述性问题：钱从哪来、花到哪去、结构如何共变。理论透镜是课堂讲的社保三目标——筹资端的可负担性、待遇端的充足性、结余端的财务可持续性，置于现收现付逻辑之下。由此得到一个可证伪预期：若改革只是把盘子做大，结余应持平或上升；两年后并非如此，我把判断权交给未来数据，而不过度下结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什么值得做？理论上，多数研究做跨城市政策比较或对2050年精算，少有逐年追踪一个城市真实账本的研究。实践上，2026年全国推开要求各地并轨，苏州是早期样本。我明确边界：仅作描述，苏州是富裕强财政城市，不外推、不主张因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方法上，这是用二手官方数据的单案例描述性研究——不做问卷，因为对象是城市级账本。主干是苏州2021至2025年的历年收支通告。分析刻意保守：以2023年为断点分两段，只在段内比较，不作因果识别。整体四到六周完成。我的汇报到此，欢迎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34376">
            <a:off x="1016032" y="12128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/>
          <p:nvPr/>
        </p:nvSpPr>
        <p:spPr>
          <a:xfrm>
            <a:off x="1016000" y="1371600"/>
            <a:ext cx="762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6A67"/>
                </a:solidFill>
                <a:latin typeface="Songti SC"/>
                <a:ea typeface="Songti SC"/>
                <a:cs typeface="Songti SC"/>
                <a:sym typeface="Songti SC"/>
              </a:rPr>
              <a:t>社会保障学 · 研究计划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286000"/>
            <a:ext cx="1041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34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从依附划转走向三方共担：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34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苏州长期护理保险基金</a:t>
            </a:r>
            <a:endParaRPr lang="en-US" sz="3400" b="1" i="0" u="none" strike="noStrike">
              <a:solidFill>
                <a:srgbClr val="2A2D3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4000"/>
              </a:lnSpc>
            </a:pPr>
            <a:r>
              <a:rPr lang="en-US" sz="34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在2023年筹资断点前后的观察</a:t>
            </a:r>
            <a:endParaRPr lang="en-US" sz="3400" b="1" i="0" u="none" strike="noStrike">
              <a:solidFill>
                <a:srgbClr val="2A2D3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4978400"/>
            <a:ext cx="762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1" u="none" strike="noStrike">
                <a:solidFill>
                  <a:srgbClr val="4C7A5A"/>
                </a:solidFill>
                <a:latin typeface="Songti SC"/>
                <a:ea typeface="Songti SC"/>
                <a:cs typeface="Songti SC"/>
                <a:sym typeface="Songti SC"/>
              </a:rPr>
              <a:t>断点前后观察 · 2021—2025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297">
            <a:off x="1016004" y="5734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B2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5918200"/>
            <a:ext cx="1041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6A67"/>
                </a:solidFill>
                <a:latin typeface="Songti SC"/>
                <a:ea typeface="Songti SC"/>
                <a:cs typeface="Songti SC"/>
                <a:sym typeface="Songti SC"/>
              </a:rPr>
              <a:t>社会保障学课程 · 本科研究计划 · 2026年9月</a:t>
            </a:r>
            <a:endParaRPr lang="en-US" sz="1100"/>
          </a:p>
        </p:txBody>
      </p:sp>
      <p:pic>
        <p:nvPicPr>
          <p:cNvPr id="8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382000" y="838200"/>
            <a:ext cx="2743200" cy="3657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112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C7A5A"/>
                </a:solidFill>
                <a:latin typeface="Songti SC"/>
                <a:ea typeface="Songti SC"/>
                <a:cs typeface="Songti SC"/>
                <a:sym typeface="Songti SC"/>
              </a:rPr>
              <a:t>01 · 研究背景与问题缺口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试点十年，城市级账本仍不透明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670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B2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" name="Connector 5"/>
          <p:cNvCxnSpPr/>
          <p:nvPr/>
        </p:nvCxnSpPr>
        <p:spPr>
          <a:xfrm rot="5385308">
            <a:off x="-266700" y="3638564"/>
            <a:ext cx="297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4CFC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155700" y="2108200"/>
            <a:ext cx="127000" cy="127000"/>
          </a:xfrm>
          <a:prstGeom prst="ellipse">
            <a:avLst/>
          </a:prstGeom>
          <a:solidFill>
            <a:srgbClr val="4C7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498600" y="20320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2012</a:t>
            </a:r>
            <a:r>
              <a:rPr lang="en-US" sz="15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 青岛先行探索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155700" y="2679700"/>
            <a:ext cx="127000" cy="127000"/>
          </a:xfrm>
          <a:prstGeom prst="ellipse">
            <a:avLst/>
          </a:prstGeom>
          <a:solidFill>
            <a:srgbClr val="4C7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498600" y="26035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2016</a:t>
            </a:r>
            <a:r>
              <a:rPr lang="en-US" sz="15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 国家首批15城试点，苏州在列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155700" y="3327400"/>
            <a:ext cx="127000" cy="127000"/>
          </a:xfrm>
          <a:prstGeom prst="ellipse">
            <a:avLst/>
          </a:prstGeom>
          <a:solidFill>
            <a:srgbClr val="4C7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498600" y="32512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2020</a:t>
            </a:r>
            <a:r>
              <a:rPr lang="en-US" sz="15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 扩围至49城，明确独立筹资方向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55700" y="3975100"/>
            <a:ext cx="127000" cy="127000"/>
          </a:xfrm>
          <a:prstGeom prst="ellipse">
            <a:avLst/>
          </a:prstGeom>
          <a:solidFill>
            <a:srgbClr val="4C7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498600" y="38989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2024</a:t>
            </a:r>
            <a:r>
              <a:rPr lang="en-US" sz="15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 单独建账，基金独立核算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155700" y="4622800"/>
            <a:ext cx="127000" cy="127000"/>
          </a:xfrm>
          <a:prstGeom prst="ellipse">
            <a:avLst/>
          </a:prstGeom>
          <a:solidFill>
            <a:srgbClr val="4C7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498600" y="45466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2026</a:t>
            </a:r>
            <a:r>
              <a:rPr lang="en-US" sz="15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 全国推开启动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387267">
            <a:off x="4254500" y="3740162"/>
            <a:ext cx="342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4CF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350000" y="2032000"/>
            <a:ext cx="482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6A67"/>
                </a:solidFill>
                <a:latin typeface="Songti SC"/>
                <a:ea typeface="Songti SC"/>
                <a:cs typeface="Songti SC"/>
                <a:sym typeface="Songti SC"/>
              </a:rPr>
              <a:t>国家规模之大，城市记录之缺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2387600"/>
            <a:ext cx="48260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5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基金已覆盖</a:t>
            </a:r>
            <a:r>
              <a:rPr lang="en-US" sz="15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3.08亿人</a:t>
            </a:r>
            <a:r>
              <a:rPr lang="en-US" sz="15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、年收入</a:t>
            </a:r>
            <a:r>
              <a:rPr lang="en-US" sz="15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369.6亿元</a:t>
            </a:r>
            <a:r>
              <a:rPr lang="en-US" sz="15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（2025年），但各地筹资与待遇规则高度碎片化。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50000" y="36322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5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在城市层面，长期</a:t>
            </a:r>
            <a:r>
              <a:rPr lang="en-US" sz="15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缺乏连续、可比、公开的账本</a:t>
            </a:r>
            <a:r>
              <a:rPr lang="en-US" sz="15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：钱从哪来、花到哪去、结余往哪走。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50000" y="4775200"/>
            <a:ext cx="482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500" b="1" i="0" u="none" strike="noStrike">
                <a:solidFill>
                  <a:srgbClr val="4C7A5A"/>
                </a:solidFill>
                <a:latin typeface="Songti SC"/>
                <a:ea typeface="Songti SC"/>
                <a:cs typeface="Songti SC"/>
                <a:sym typeface="Songti SC"/>
              </a:rPr>
              <a:t>选苏州</a:t>
            </a:r>
            <a:r>
              <a:rPr lang="en-US" sz="1500" b="0" i="0" u="none" strike="noStrike">
                <a:solidFill>
                  <a:srgbClr val="4C7A5A"/>
                </a:solidFill>
                <a:latin typeface="Songti SC"/>
                <a:ea typeface="Songti SC"/>
                <a:cs typeface="Songti SC"/>
                <a:sym typeface="Songti SC"/>
              </a:rPr>
              <a:t>，因为它逐年公开收、支、结余三项，精确到万元。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16000" y="63500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2807C"/>
                </a:solidFill>
                <a:latin typeface="Songti SC"/>
                <a:ea typeface="Songti SC"/>
                <a:cs typeface="Songti SC"/>
                <a:sym typeface="Songti SC"/>
              </a:rPr>
              <a:t>来源：人社部2016年80号文；国家医保局2020年37号文、2024年22号文；2025年全国医疗保障事业发展统计公报；苏州市医保局。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112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C7A5A"/>
                </a:solidFill>
                <a:latin typeface="Songti SC"/>
                <a:ea typeface="Songti SC"/>
                <a:cs typeface="Songti SC"/>
                <a:sym typeface="Songti SC"/>
              </a:rPr>
              <a:t>02 · 经验锚点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5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2023断点：收入跳升，结余随后收窄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670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B2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762000" y="1981200"/>
          <a:ext cx="5969000" cy="368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AutoShape 5"/>
          <p:cNvSpPr/>
          <p:nvPr/>
        </p:nvSpPr>
        <p:spPr>
          <a:xfrm>
            <a:off x="762000" y="5715000"/>
            <a:ext cx="5969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6A67"/>
                </a:solidFill>
                <a:latin typeface="Songti SC"/>
                <a:ea typeface="Songti SC"/>
                <a:cs typeface="Songti SC"/>
                <a:sym typeface="Songti SC"/>
              </a:rPr>
              <a:t>图1 · 苏州长护险基金收与支（亿元）。2023年为筹资改革断点。</a:t>
            </a:r>
            <a:endParaRPr lang="en-US" sz="1100"/>
          </a:p>
        </p:txBody>
      </p:sp>
      <p:sp>
        <p:nvSpPr>
          <p:cNvPr id="7" name="AutoShape 6"/>
          <p:cNvSpPr/>
          <p:nvPr/>
        </p:nvSpPr>
        <p:spPr>
          <a:xfrm>
            <a:off x="7239000" y="20320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Songti SC"/>
                <a:ea typeface="Songti SC"/>
                <a:cs typeface="Songti SC"/>
                <a:sym typeface="Songti SC"/>
              </a:rPr>
              <a:t>2023年收入跳升36.5%</a:t>
            </a:r>
            <a:endParaRPr lang="en-US" sz="1100"/>
          </a:p>
        </p:txBody>
      </p:sp>
      <p:sp>
        <p:nvSpPr>
          <p:cNvPr id="8" name="AutoShape 7"/>
          <p:cNvSpPr/>
          <p:nvPr/>
        </p:nvSpPr>
        <p:spPr>
          <a:xfrm>
            <a:off x="7239000" y="2387600"/>
            <a:ext cx="3937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7.67亿元 → 10.47亿元，源于新的三方缴费（个人24元 + 单位84元/人·年）。</a:t>
            </a:r>
            <a:endParaRPr lang="en-US" sz="1100"/>
          </a:p>
        </p:txBody>
      </p:sp>
      <p:sp>
        <p:nvSpPr>
          <p:cNvPr id="9" name="AutoShape 8"/>
          <p:cNvSpPr/>
          <p:nvPr/>
        </p:nvSpPr>
        <p:spPr>
          <a:xfrm>
            <a:off x="7239000" y="32004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Songti SC"/>
                <a:ea typeface="Songti SC"/>
                <a:cs typeface="Songti SC"/>
                <a:sym typeface="Songti SC"/>
              </a:rPr>
              <a:t>收支比 55.1% → 71.1%</a:t>
            </a:r>
            <a:endParaRPr lang="en-US" sz="1100"/>
          </a:p>
        </p:txBody>
      </p:sp>
      <p:sp>
        <p:nvSpPr>
          <p:cNvPr id="10" name="AutoShape 9"/>
          <p:cNvSpPr/>
          <p:nvPr/>
        </p:nvSpPr>
        <p:spPr>
          <a:xfrm>
            <a:off x="7239000" y="3556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支出占收入比重，2023至2025年持续上升。</a:t>
            </a:r>
            <a:endParaRPr lang="en-US" sz="1100"/>
          </a:p>
        </p:txBody>
      </p:sp>
      <p:sp>
        <p:nvSpPr>
          <p:cNvPr id="11" name="AutoShape 10"/>
          <p:cNvSpPr/>
          <p:nvPr/>
        </p:nvSpPr>
        <p:spPr>
          <a:xfrm>
            <a:off x="7239000" y="41910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Songti SC"/>
                <a:ea typeface="Songti SC"/>
                <a:cs typeface="Songti SC"/>
                <a:sym typeface="Songti SC"/>
              </a:rPr>
              <a:t>结余见顶后收窄</a:t>
            </a:r>
            <a:endParaRPr lang="en-US" sz="1100"/>
          </a:p>
        </p:txBody>
      </p:sp>
      <p:sp>
        <p:nvSpPr>
          <p:cNvPr id="12" name="AutoShape 11"/>
          <p:cNvSpPr/>
          <p:nvPr/>
        </p:nvSpPr>
        <p:spPr>
          <a:xfrm>
            <a:off x="7239000" y="4546600"/>
            <a:ext cx="3937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当期结余4.70亿元（2023年峰值）→ 3.95亿元 → 3.17亿元，两年连降。</a:t>
            </a:r>
            <a:endParaRPr lang="en-US" sz="1100"/>
          </a:p>
        </p:txBody>
      </p:sp>
      <p:sp>
        <p:nvSpPr>
          <p:cNvPr id="13" name="AutoShape 12"/>
          <p:cNvSpPr/>
          <p:nvPr/>
        </p:nvSpPr>
        <p:spPr>
          <a:xfrm>
            <a:off x="7239000" y="5384800"/>
            <a:ext cx="3937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100" b="0" i="1" u="none" strike="noStrike">
                <a:solidFill>
                  <a:srgbClr val="6B6A67"/>
                </a:solidFill>
                <a:latin typeface="Songti SC"/>
                <a:ea typeface="Songti SC"/>
                <a:cs typeface="Songti SC"/>
                <a:sym typeface="Songti SC"/>
              </a:rPr>
              <a:t>仅作描述性观察。2022年支出回落标记为离群点；不作因果判断。</a:t>
            </a:r>
            <a:endParaRPr lang="en-US" sz="1100"/>
          </a:p>
        </p:txBody>
      </p:sp>
      <p:sp>
        <p:nvSpPr>
          <p:cNvPr id="14" name="AutoShape 13"/>
          <p:cNvSpPr/>
          <p:nvPr/>
        </p:nvSpPr>
        <p:spPr>
          <a:xfrm>
            <a:off x="1016000" y="6400800"/>
            <a:ext cx="1041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2807C"/>
                </a:solidFill>
                <a:latin typeface="Songti SC"/>
                <a:ea typeface="Songti SC"/>
                <a:cs typeface="Songti SC"/>
                <a:sym typeface="Songti SC"/>
              </a:rPr>
              <a:t>来源：苏州市医保局历年《长期护理保险基金收支公开情况》通告，2021—2025年（精确到万元）。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112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C7A5A"/>
                </a:solidFill>
                <a:latin typeface="Songti SC"/>
                <a:ea typeface="Songti SC"/>
                <a:cs typeface="Songti SC"/>
                <a:sym typeface="Songti SC"/>
              </a:rPr>
              <a:t>03 · 研究问题与理论框架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5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三个描述性问题，一副可持续性透镜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670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B2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20066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C7A5A"/>
                </a:solidFill>
                <a:latin typeface="Songti SC"/>
                <a:ea typeface="Songti SC"/>
                <a:cs typeface="Songti SC"/>
                <a:sym typeface="Songti SC"/>
              </a:rPr>
              <a:t>RQ1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778000" y="20066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钱从哪来？</a:t>
            </a:r>
            <a:r>
              <a:rPr lang="en-US" sz="14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2023年改革后筹资结构如何变化——从医保划转走向三方共担，看各渠道占比与人均筹资额。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1496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C7A5A"/>
                </a:solidFill>
                <a:latin typeface="Songti SC"/>
                <a:ea typeface="Songti SC"/>
                <a:cs typeface="Songti SC"/>
                <a:sym typeface="Songti SC"/>
              </a:rPr>
              <a:t>RQ2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778000" y="31496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花到哪去？</a:t>
            </a:r>
            <a:r>
              <a:rPr lang="en-US" sz="14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五年间待遇支出规模与在享人数如何共变。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2926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C7A5A"/>
                </a:solidFill>
                <a:latin typeface="Songti SC"/>
                <a:ea typeface="Songti SC"/>
                <a:cs typeface="Songti SC"/>
                <a:sym typeface="Songti SC"/>
              </a:rPr>
              <a:t>RQ3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778000" y="42926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结构如何共变？</a:t>
            </a:r>
            <a:r>
              <a:rPr lang="en-US" sz="14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收支比与结余走势。仅为时序共变，</a:t>
            </a:r>
            <a:r>
              <a:rPr lang="en-US" sz="14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不作因果识别</a:t>
            </a:r>
            <a:r>
              <a:rPr lang="en-US" sz="14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。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5387809">
            <a:off x="5067300" y="3790961"/>
            <a:ext cx="3581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4CF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7188200" y="2006600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6A67"/>
                </a:solidFill>
                <a:latin typeface="Songti SC"/>
                <a:ea typeface="Songti SC"/>
                <a:cs typeface="Songti SC"/>
                <a:sym typeface="Songti SC"/>
              </a:rPr>
              <a:t>三目标透镜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188200" y="2362200"/>
            <a:ext cx="406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可负担性</a:t>
            </a:r>
            <a:r>
              <a:rPr lang="en-US" sz="14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 —— 筹资端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充足性</a:t>
            </a:r>
            <a:r>
              <a:rPr lang="en-US" sz="14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 —— 待遇端</a:t>
            </a:r>
            <a:endParaRPr lang="en-US" sz="1400" b="0" i="0" u="none" strike="noStrike">
              <a:solidFill>
                <a:srgbClr val="2A2D3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财务可持续性</a:t>
            </a:r>
            <a:r>
              <a:rPr lang="en-US" sz="14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 —— 结余端</a:t>
            </a:r>
            <a:endParaRPr lang="en-US" sz="1400" b="0" i="0" u="none" strike="noStrike">
              <a:solidFill>
                <a:srgbClr val="2A2D3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188200" y="3683000"/>
            <a:ext cx="4064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4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现收现付：</a:t>
            </a:r>
            <a:r>
              <a:rPr lang="en-US" sz="14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老龄化抚养比恶化，挤压缴费者与待遇领取者之间的平衡。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188200" y="4775200"/>
            <a:ext cx="406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400" b="1" i="0" u="none" strike="noStrike">
                <a:solidFill>
                  <a:srgbClr val="4C7A5A"/>
                </a:solidFill>
                <a:latin typeface="Songti SC"/>
                <a:ea typeface="Songti SC"/>
                <a:cs typeface="Songti SC"/>
                <a:sym typeface="Songti SC"/>
              </a:rPr>
              <a:t>可证伪预期：</a:t>
            </a:r>
            <a:r>
              <a:rPr lang="en-US" sz="1400" b="0" i="0" u="none" strike="noStrike">
                <a:solidFill>
                  <a:srgbClr val="4C7A5A"/>
                </a:solidFill>
                <a:latin typeface="Songti SC"/>
                <a:ea typeface="Songti SC"/>
                <a:cs typeface="Songti SC"/>
                <a:sym typeface="Songti SC"/>
              </a:rPr>
              <a:t>若改革只是把盘子做大，结余应持平或上升；两年后并非如此——留给2026—2027年数据检验。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63500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1" u="none" strike="noStrike">
                <a:solidFill>
                  <a:srgbClr val="6B6A67"/>
                </a:solidFill>
                <a:latin typeface="Songti SC"/>
                <a:ea typeface="Songti SC"/>
                <a:cs typeface="Songti SC"/>
                <a:sym typeface="Songti SC"/>
              </a:rPr>
              <a:t>三个问题均为描述性问题，不作政策评价或因果检验。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112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C7A5A"/>
                </a:solidFill>
                <a:latin typeface="Songti SC"/>
                <a:ea typeface="Songti SC"/>
                <a:cs typeface="Songti SC"/>
                <a:sym typeface="Songti SC"/>
              </a:rPr>
              <a:t>04 · 研究意义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为什么值得做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670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B2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20574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4C7A5A"/>
                </a:solidFill>
                <a:latin typeface="Songti SC"/>
                <a:ea typeface="Songti SC"/>
                <a:cs typeface="Songti SC"/>
                <a:sym typeface="Songti SC"/>
              </a:rPr>
              <a:t>理论贡献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892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已有研究多为跨城市政策比较，或对2050年的宏观精算预测。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本研究追踪一个城市的</a:t>
            </a:r>
            <a:r>
              <a:rPr lang="en-US" sz="14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真实逐年账本</a:t>
            </a:r>
            <a:r>
              <a:rPr lang="en-US" sz="14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，并把三目标框架用于"第六险"独立建账元年的样本。</a:t>
            </a:r>
            <a:endParaRPr lang="en-US" sz="1400" b="0" i="0" u="none" strike="noStrike">
              <a:solidFill>
                <a:srgbClr val="2A2D3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350000" y="20574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4C7A5A"/>
                </a:solidFill>
                <a:latin typeface="Songti SC"/>
                <a:ea typeface="Songti SC"/>
                <a:cs typeface="Songti SC"/>
                <a:sym typeface="Songti SC"/>
              </a:rPr>
              <a:t>实践贡献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0" y="24892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2026年全国推开要求各地向国家基准费率并轨，苏州是一个早期样本。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诚实的小样本报告——呈现离群点、缺失数据与边界——本身即有政策价值。</a:t>
            </a:r>
            <a:endParaRPr lang="en-US" sz="1400" b="0" i="0" u="none" strike="noStrike">
              <a:solidFill>
                <a:srgbClr val="2A2D3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cxnSp>
        <p:nvCxnSpPr>
          <p:cNvPr id="9" name="Connector 9"/>
          <p:cNvCxnSpPr/>
          <p:nvPr/>
        </p:nvCxnSpPr>
        <p:spPr>
          <a:xfrm rot="-4297">
            <a:off x="1016004" y="4438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4CF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47244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B6A67"/>
                </a:solidFill>
                <a:latin typeface="Songti SC"/>
                <a:ea typeface="Songti SC"/>
                <a:cs typeface="Songti SC"/>
                <a:sym typeface="Songti SC"/>
              </a:rPr>
              <a:t>适用边界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5080000"/>
            <a:ext cx="990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仅作描述。苏州属富裕、高城镇化、强财政型地级市；结论为单一观察案例，</a:t>
            </a:r>
            <a:r>
              <a:rPr lang="en-US" sz="14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不外推全国</a:t>
            </a:r>
            <a:r>
              <a:rPr lang="en-US" sz="14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。不主张2023年改革的因果效应。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112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C7A5A"/>
                </a:solidFill>
                <a:latin typeface="Songti SC"/>
                <a:ea typeface="Songti SC"/>
                <a:cs typeface="Songti SC"/>
                <a:sym typeface="Songti SC"/>
              </a:rPr>
              <a:t>05 · 研究方法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我们将如何开展研究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670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B2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20066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4C7A5A"/>
                </a:solidFill>
                <a:latin typeface="Songti SC"/>
                <a:ea typeface="Songti SC"/>
                <a:cs typeface="Songti SC"/>
                <a:sym typeface="Songti SC"/>
              </a:rPr>
              <a:t>数据收集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38400"/>
            <a:ext cx="4826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二手官方数据</a:t>
            </a:r>
            <a:r>
              <a:rPr lang="en-US" sz="14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、单案例描述性研究——不做问卷或访谈，因为研究对象是城市级账本，不存在可抽样的个体总体。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主干来源：</a:t>
            </a:r>
            <a:r>
              <a:rPr lang="en-US" sz="14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苏州市医保局历年《长护险基金收支公开情况》通告，2021—2025年，精确到万元。</a:t>
            </a:r>
            <a:endParaRPr lang="en-US" sz="1400" b="0" i="0" u="none" strike="noStrike">
              <a:solidFill>
                <a:srgbClr val="2A2D3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补充：</a:t>
            </a:r>
            <a:r>
              <a:rPr lang="en-US" sz="14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工作总结、新闻发布、国家医保局统计公报。</a:t>
            </a:r>
            <a:endParaRPr lang="en-US" sz="1400" b="0" i="0" u="none" strike="noStrike">
              <a:solidFill>
                <a:srgbClr val="2A2D3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缺失年份</a:t>
            </a:r>
            <a:r>
              <a:rPr lang="en-US" sz="14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（2017—2020）标注为推算或待核实，绝不编造。</a:t>
            </a:r>
            <a:endParaRPr lang="en-US" sz="1400" b="0" i="0" u="none" strike="noStrike">
              <a:solidFill>
                <a:srgbClr val="2A2D3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350000" y="20066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4C7A5A"/>
                </a:solidFill>
                <a:latin typeface="Songti SC"/>
                <a:ea typeface="Songti SC"/>
                <a:cs typeface="Songti SC"/>
                <a:sym typeface="Songti SC"/>
              </a:rPr>
              <a:t>数据分析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0" y="2438400"/>
            <a:ext cx="4826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断点两段法：</a:t>
            </a:r>
            <a:r>
              <a:rPr lang="en-US" sz="14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2021—2022（旧口径）对比2023—2025（新口径），分段观察，不跨断点拟合趋势线。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只在段内计算：</a:t>
            </a:r>
            <a:r>
              <a:rPr lang="en-US" sz="14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增速、收支比、筹资渠道占比与人均筹资额。</a:t>
            </a:r>
            <a:endParaRPr lang="en-US" sz="1400" b="0" i="0" u="none" strike="noStrike">
              <a:solidFill>
                <a:srgbClr val="2A2D3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描述性统计</a:t>
            </a:r>
            <a:r>
              <a:rPr lang="en-US" sz="1400" b="0" i="0" u="none" strike="noStrike">
                <a:solidFill>
                  <a:srgbClr val="2A2D30"/>
                </a:solidFill>
                <a:latin typeface="Songti SC"/>
                <a:ea typeface="Songti SC"/>
                <a:cs typeface="Songti SC"/>
                <a:sym typeface="Songti SC"/>
              </a:rPr>
              <a:t>——不作因果识别；无对照组与机制数据。</a:t>
            </a:r>
            <a:endParaRPr lang="en-US" sz="1400" b="0" i="0" u="none" strike="noStrike">
              <a:solidFill>
                <a:srgbClr val="2A2D3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cxnSp>
        <p:nvCxnSpPr>
          <p:cNvPr id="9" name="Connector 9"/>
          <p:cNvCxnSpPr/>
          <p:nvPr/>
        </p:nvCxnSpPr>
        <p:spPr>
          <a:xfrm rot="-4297">
            <a:off x="1016004" y="545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4CF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56642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6B6A67"/>
                </a:solidFill>
                <a:latin typeface="Songti SC"/>
                <a:ea typeface="Songti SC"/>
                <a:cs typeface="Songti SC"/>
                <a:sym typeface="Songti SC"/>
              </a:rPr>
              <a:t>进度：</a:t>
            </a:r>
            <a:r>
              <a:rPr lang="en-US" sz="1300" b="0" i="0" u="none" strike="noStrike">
                <a:solidFill>
                  <a:srgbClr val="6B6A67"/>
                </a:solidFill>
                <a:latin typeface="Songti SC"/>
                <a:ea typeface="Songti SC"/>
                <a:cs typeface="Songti SC"/>
                <a:sym typeface="Songti SC"/>
              </a:rPr>
              <a:t>第1—2周采集核对 · 第3周绘制两段图 · 第4—5周撰写核对 · 第6周展示。关键限制：仅有当期结余，累计结余未公开。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1525</Words>
  <Application>WPS 演示</Application>
  <PresentationFormat/>
  <Paragraphs>121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Arial</vt:lpstr>
      <vt:lpstr>Songti SC</vt:lpstr>
      <vt:lpstr>Segoe Print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赣北庐陵人</cp:lastModifiedBy>
  <cp:revision>2</cp:revision>
  <dcterms:created xsi:type="dcterms:W3CDTF">2026-09-20T17:19:00Z</dcterms:created>
  <dcterms:modified xsi:type="dcterms:W3CDTF">2026-09-20T17:25:10Z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{"Label":"1","ContentProducer":"001191110102MACQD9K64010000","ProduceID":"7687667761938976978","ReservedCode1":"","ContentPropagator":"","PropagateID":"","ReservedCode2":""}</vt:lpwstr>
  </property>
  <property fmtid="{D5CDD505-2E9C-101B-9397-08002B2CF9AE}" pid="3" name="ICV">
    <vt:lpwstr>2AD19C47C39646ED9481D931DE6CD8B5_12</vt:lpwstr>
  </property>
  <property fmtid="{D5CDD505-2E9C-101B-9397-08002B2CF9AE}" pid="4" name="KSOProductBuildVer">
    <vt:lpwstr>2052-12.1.0.28505</vt:lpwstr>
  </property>
</Properties>
</file>