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Revenue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4C7A5A"/>
            </a:solidFill>
            <a:ln>
              <a:noFill/>
            </a:ln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{"2021","2022","2023","2024","2025"}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{6.74,7.67,10.47,10.75,10.97}</c:f>
              <c:numCache>
                <c:formatCode>General</c:formatCode>
                <c:ptCount val="5"/>
                <c:pt idx="0">
                  <c:v>6.74</c:v>
                </c:pt>
                <c:pt idx="1">
                  <c:v>7.67</c:v>
                </c:pt>
                <c:pt idx="2">
                  <c:v>10.47</c:v>
                </c:pt>
                <c:pt idx="3">
                  <c:v>10.75</c:v>
                </c:pt>
                <c:pt idx="4">
                  <c:v>10.97</c:v>
                </c:pt>
              </c:numCache>
            </c:numRef>
          </c:val>
        </c:ser>
        <c:ser>
          <c:idx val="1"/>
          <c:order val="1"/>
          <c:tx>
            <c:strRef>
              <c:f>Expenditure</c:f>
              <c:strCache>
                <c:ptCount val="1"/>
                <c:pt idx="0">
                  <c:v>Expenditure</c:v>
                </c:pt>
              </c:strCache>
            </c:strRef>
          </c:tx>
          <c:spPr>
            <a:solidFill>
              <a:srgbClr val="B2BCAC"/>
            </a:solidFill>
            <a:ln>
              <a:noFill/>
            </a:ln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{"2021","2022","2023","2024","2025"}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{5.73,4.69,5.77,6.81,7.8}</c:f>
              <c:numCache>
                <c:formatCode>General</c:formatCode>
                <c:ptCount val="5"/>
                <c:pt idx="0">
                  <c:v>5.73</c:v>
                </c:pt>
                <c:pt idx="1">
                  <c:v>4.69</c:v>
                </c:pt>
                <c:pt idx="2">
                  <c:v>5.77</c:v>
                </c:pt>
                <c:pt idx="3">
                  <c:v>6.81</c:v>
                </c:pt>
                <c:pt idx="4">
                  <c:v>7.8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-27"/>
        <c:axId val="754001152"/>
        <c:axId val="753999904"/>
      </c:barChart>
      <c:catAx>
        <c:axId val="7540011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 cap="flat" cmpd="sng" algn="ctr">
            <a:noFill/>
            <a:prstDash val="solid"/>
            <a:round/>
          </a:ln>
        </c:spPr>
        <c:txPr>
          <a:bodyPr rot="0" spcFirstLastPara="1" vertOverflow="ellipsis" vert="horz" wrap="square" anchor="ctr" anchorCtr="1"/>
          <a:lstStyle/>
          <a:p>
            <a:pPr>
              <a:defRPr lang="zh-CN"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753999904"/>
        <c:crosses val="min"/>
        <c:auto val="1"/>
        <c:lblAlgn val="ctr"/>
        <c:lblOffset val="100"/>
        <c:noMultiLvlLbl val="0"/>
      </c:catAx>
      <c:valAx>
        <c:axId val="7539999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rgbClr val="F8F8F6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9525" cap="flat" cmpd="sng" algn="ctr">
            <a:noFill/>
            <a:prstDash val="solid"/>
            <a:round/>
          </a:ln>
        </c:spPr>
        <c:txPr>
          <a:bodyPr rot="0" spcFirstLastPara="1" vertOverflow="ellipsis" vert="horz" wrap="square" anchor="ctr" anchorCtr="1"/>
          <a:lstStyle/>
          <a:p>
            <a:pPr>
              <a:defRPr lang="zh-CN" sz="1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754001152"/>
        <c:crosses val="min"/>
        <c:crossBetween val="between"/>
      </c:valAx>
      <c:spPr>
        <a:noFill/>
        <a:ln>
          <a:noFill/>
        </a:ln>
      </c:spPr>
    </c:plotArea>
    <c:legend>
      <c:legendPos val="t"/>
      <c:layout/>
      <c:overlay val="0"/>
      <c:txPr>
        <a:bodyPr rot="0" spcFirstLastPara="0" vertOverflow="ellipsis" vert="horz" wrap="square" anchor="ctr" anchorCtr="0"/>
        <a:lstStyle/>
        <a:p>
          <a:pPr>
            <a:defRPr lang="zh-CN" sz="14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62073aca-9217-4a69-b027-9355ac6e8b24}"/>
      </c:ext>
    </c:extLst>
  </c:chart>
  <c:spPr>
    <a:noFill/>
    <a:ln w="9525" cap="flat" cmpd="sng" algn="ctr"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Good morning. This is my research plan on Suzhou's long-term care insurance fund. The title states the core puzzle: after the 2023 financing reform moved the fund from relying on medical-insurance transfers to a three-party contribution model, how did the income-expenditure structure actually change? I will look at the five official years, 2021 to 2025, before and after that breakpoint.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Long-term care insurance, the so-called sixth insurance, has run pilots for a decade, from Qingdao in 2012 to nationwide rollout in 2026. Nationally it now covers over 300 million people. But at city level the books are opaque: financing rules are fragmented and no city publishes a continuous comparable record. Suzhou is the exception — it publishes annual statements exact to the yuan, which makes it an observable case.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This is the puzzle. In 2023 Suzhou reformed its financing, and revenue jumped thirty-six and a half percent to over one billion yuan. Yet expenditure kept rising, the expenditure-to-income ratio climbed from about 55 to 71 percent, and the current surplus peaked in 2023 then narrowed for two straight years. I stress this is a descriptive observation — I do not claim causality, and the 2022 dip is treated as an outlier.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I ask three descriptive questions: where the money comes from, where it goes, and how the two co-vary. The theoretical lens is the social-insurance triad from our course — affordability on the financing side, adequacy on the benefit side, and financial sustainability on the balance side, set against pay-as-you-go logic. This yields a falsifiable expectation: if the reform only enlarged the pool, the surplus should stay flat or rise. It did not after two years, and I leave that judgement to future data rather than over-claim now.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Why does this matter? Theoretically, most research compares policies across cities or projects actuarially to 2050; few track one city's real books year by year. Practically, as the 2026 nationwide rollout asks localities to converge on a national rate, Suzhou is an early sample. I am explicit about the boundary: this is descriptive only, Suzhou is an affluent strong-fiscal city, and I do not extrapolate or claim causation.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Methodologically, this is a descriptive single case using secondary official data — no survey, because the object is a city-level fund book. The main source is Suzhou's annual disclosure bulletins from 2021 to 2025. Analysis is deliberately conservative: I split the series at the 2023 breakpoint, compare within each segment only, and make no causal claim. The plan runs four to six weeks, and I flag the key limit that cumulative balance is not published. Thank you — I welcome your questions.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 rot="-34376">
            <a:off x="1016032" y="12128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4C7A5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3" name="AutoShape 3"/>
          <p:cNvSpPr/>
          <p:nvPr/>
        </p:nvSpPr>
        <p:spPr>
          <a:xfrm>
            <a:off x="1016000" y="1371600"/>
            <a:ext cx="762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B6A6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SOCIAL SECURITY · RESEARCH PLAN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2286000"/>
            <a:ext cx="10414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4000"/>
              </a:lnSpc>
              <a:defRPr/>
            </a:pPr>
            <a:r>
              <a:rPr lang="en-US" sz="3400" b="1" i="0" u="none" strike="noStrike">
                <a:solidFill>
                  <a:srgbClr val="2A2D3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From Dependency to Three-Party Sharing:</a:t>
            </a:r>
            <a:endParaRPr lang="en-US" sz="1100"/>
          </a:p>
          <a:p>
            <a:pPr marL="0" indent="0" algn="l">
              <a:lnSpc>
                <a:spcPct val="104000"/>
              </a:lnSpc>
            </a:pPr>
            <a:r>
              <a:rPr lang="en-US" sz="3400" b="1" i="0" u="none" strike="noStrike">
                <a:solidFill>
                  <a:srgbClr val="2A2D3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Suzhou's Long-Term Care Insurance Fund</a:t>
            </a:r>
            <a:endParaRPr lang="en-US" sz="3400" b="1" i="0" u="none" strike="noStrike">
              <a:solidFill>
                <a:srgbClr val="2A2D3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indent="0" algn="l">
              <a:lnSpc>
                <a:spcPct val="104000"/>
              </a:lnSpc>
            </a:pPr>
            <a:r>
              <a:rPr lang="en-US" sz="3400" b="1" i="0" u="none" strike="noStrike">
                <a:solidFill>
                  <a:srgbClr val="2A2D3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Around the 2023 Financing Breakpoint</a:t>
            </a:r>
            <a:endParaRPr lang="en-US" sz="3400" b="1" i="0" u="none" strike="noStrike">
              <a:solidFill>
                <a:srgbClr val="2A2D3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1016000" y="4978400"/>
            <a:ext cx="7620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1" u="none" strike="noStrike">
                <a:solidFill>
                  <a:srgbClr val="4C7A5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Before-and-after observation, 2021–2025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4297">
            <a:off x="1016004" y="57340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B4B2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1016000" y="5918200"/>
            <a:ext cx="10414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B6A6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Social Security Course · Undergraduate Research Plan · September 2026</a:t>
            </a:r>
            <a:endParaRPr lang="en-US" sz="1100"/>
          </a:p>
        </p:txBody>
      </p:sp>
      <p:pic>
        <p:nvPicPr>
          <p:cNvPr id="8" name="Picture 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8382000" y="838200"/>
            <a:ext cx="2743200" cy="3657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11200"/>
            <a:ext cx="635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C7A5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01 · BACKGROUND AND THE GAP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016000"/>
            <a:ext cx="1041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2A2D3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Ten years of pilots — yet no transparent city-level books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16700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B4B2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" name="Connector 5"/>
          <p:cNvCxnSpPr/>
          <p:nvPr/>
        </p:nvCxnSpPr>
        <p:spPr>
          <a:xfrm rot="5385308">
            <a:off x="-266700" y="3638564"/>
            <a:ext cx="2971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C4CFC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" name="AutoShape 6"/>
          <p:cNvSpPr/>
          <p:nvPr/>
        </p:nvSpPr>
        <p:spPr>
          <a:xfrm>
            <a:off x="1155700" y="2108200"/>
            <a:ext cx="127000" cy="127000"/>
          </a:xfrm>
          <a:prstGeom prst="ellipse">
            <a:avLst/>
          </a:prstGeom>
          <a:solidFill>
            <a:srgbClr val="4C7A5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498600" y="20320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A2D3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2012</a:t>
            </a:r>
            <a:r>
              <a:rPr lang="en-US" sz="1500" b="0" i="0" u="none" strike="noStrike">
                <a:solidFill>
                  <a:srgbClr val="2A2D3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Qingdao pioneers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155700" y="2679700"/>
            <a:ext cx="127000" cy="127000"/>
          </a:xfrm>
          <a:prstGeom prst="ellipse">
            <a:avLst/>
          </a:prstGeom>
          <a:solidFill>
            <a:srgbClr val="4C7A5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498600" y="26035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2A2D3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2016</a:t>
            </a:r>
            <a:r>
              <a:rPr lang="en-US" sz="1500" b="0" i="0" u="none" strike="noStrike">
                <a:solidFill>
                  <a:srgbClr val="2A2D3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15 national pilots; Suzhou joins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155700" y="3327400"/>
            <a:ext cx="127000" cy="127000"/>
          </a:xfrm>
          <a:prstGeom prst="ellipse">
            <a:avLst/>
          </a:prstGeom>
          <a:solidFill>
            <a:srgbClr val="4C7A5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1498600" y="32512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2A2D3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2020</a:t>
            </a:r>
            <a:r>
              <a:rPr lang="en-US" sz="1500" b="0" i="0" u="none" strike="noStrike">
                <a:solidFill>
                  <a:srgbClr val="2A2D3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Expanded to 49 cities; independent financing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155700" y="3975100"/>
            <a:ext cx="127000" cy="127000"/>
          </a:xfrm>
          <a:prstGeom prst="ellipse">
            <a:avLst/>
          </a:prstGeom>
          <a:solidFill>
            <a:srgbClr val="4C7A5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1498600" y="38989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2A2D3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2024</a:t>
            </a:r>
            <a:r>
              <a:rPr lang="en-US" sz="1500" b="0" i="0" u="none" strike="noStrike">
                <a:solidFill>
                  <a:srgbClr val="2A2D3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Separate accounts, independent accounting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155700" y="4622800"/>
            <a:ext cx="127000" cy="127000"/>
          </a:xfrm>
          <a:prstGeom prst="ellipse">
            <a:avLst/>
          </a:prstGeom>
          <a:solidFill>
            <a:srgbClr val="4C7A5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1498600" y="45466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2A2D3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2026</a:t>
            </a:r>
            <a:r>
              <a:rPr lang="en-US" sz="1500" b="0" i="0" u="none" strike="noStrike">
                <a:solidFill>
                  <a:srgbClr val="2A2D3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Nationwide rollout begins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5387267">
            <a:off x="4254500" y="3740162"/>
            <a:ext cx="342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4CFC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6350000" y="2032000"/>
            <a:ext cx="482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6A6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NATIONAL SCALE, CITY-LEVEL OBSCURITY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350000" y="2387600"/>
            <a:ext cx="4826000" cy="1066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sz="1500" b="0" i="0" u="none" strike="noStrike">
                <a:solidFill>
                  <a:srgbClr val="2A2D3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The fund has reached </a:t>
            </a:r>
            <a:r>
              <a:rPr lang="en-US" sz="1500" b="1" i="0" u="none" strike="noStrike">
                <a:solidFill>
                  <a:srgbClr val="2A2D3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308 million covered</a:t>
            </a:r>
            <a:r>
              <a:rPr lang="en-US" sz="1500" b="0" i="0" u="none" strike="noStrike">
                <a:solidFill>
                  <a:srgbClr val="2A2D3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people and </a:t>
            </a:r>
            <a:r>
              <a:rPr lang="en-US" sz="1500" b="1" i="0" u="none" strike="noStrike">
                <a:solidFill>
                  <a:srgbClr val="2A2D3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¥37.0 billion revenue</a:t>
            </a:r>
            <a:r>
              <a:rPr lang="en-US" sz="1500" b="0" i="0" u="none" strike="noStrike">
                <a:solidFill>
                  <a:srgbClr val="2A2D3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(2025), yet financing and benefit rules remain highly fragmented across cities.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350000" y="3632200"/>
            <a:ext cx="482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sz="1500" b="0" i="0" u="none" strike="noStrike">
                <a:solidFill>
                  <a:srgbClr val="2A2D3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At city level there is </a:t>
            </a:r>
            <a:r>
              <a:rPr lang="en-US" sz="1500" b="1" i="0" u="none" strike="noStrike">
                <a:solidFill>
                  <a:srgbClr val="2A2D3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no continuous, comparable public record</a:t>
            </a:r>
            <a:r>
              <a:rPr lang="en-US" sz="1500" b="0" i="0" u="none" strike="noStrike">
                <a:solidFill>
                  <a:srgbClr val="2A2D3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of where money comes from, where it goes, and where the balance goes.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350000" y="4775200"/>
            <a:ext cx="4826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sz="1500" b="1" i="0" u="none" strike="noStrike">
                <a:solidFill>
                  <a:srgbClr val="4C7A5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Suzhou is chosen</a:t>
            </a:r>
            <a:r>
              <a:rPr lang="en-US" sz="1500" b="0" i="0" u="none" strike="noStrike">
                <a:solidFill>
                  <a:srgbClr val="4C7A5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because it publishes annual income, expenditure and balance statements, exact to the yuan.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1016000" y="6350000"/>
            <a:ext cx="1041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2807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Sources: MOHRSS 2016 No.80; NHSA 2020 No.37; NHSA 2024 No.22; NHSA 2025 Statistical Bulletin; Suzhou Healthcare Security Bureau.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11200"/>
            <a:ext cx="635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C7A5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02 · THE EMPIRICAL PUZZLE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016000"/>
            <a:ext cx="1041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500" b="1" i="0" u="none" strike="noStrike">
                <a:solidFill>
                  <a:srgbClr val="2A2D3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The 2023 breakpoint: revenue jumped, then surplus narrowed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16700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B4B2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5" name="Chart 5"/>
          <p:cNvGraphicFramePr>
            <a:graphicFrameLocks noGrp="1"/>
          </p:cNvGraphicFramePr>
          <p:nvPr/>
        </p:nvGraphicFramePr>
        <p:xfrm>
          <a:off x="762000" y="1981200"/>
          <a:ext cx="5969000" cy="3683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" name="AutoShape 5"/>
          <p:cNvSpPr/>
          <p:nvPr/>
        </p:nvSpPr>
        <p:spPr>
          <a:xfrm>
            <a:off x="762000" y="5715000"/>
            <a:ext cx="5969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B6A6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Figure 1 · Suzhou LTCI fund income and expenditure, ¥100 million. 2023 is the financing-reform breakpoint (¥100 million = 亿元).</a:t>
            </a:r>
            <a:endParaRPr lang="en-US" sz="1100"/>
          </a:p>
        </p:txBody>
      </p:sp>
      <p:sp>
        <p:nvSpPr>
          <p:cNvPr id="7" name="AutoShape 6"/>
          <p:cNvSpPr/>
          <p:nvPr/>
        </p:nvSpPr>
        <p:spPr>
          <a:xfrm>
            <a:off x="7239000" y="2032000"/>
            <a:ext cx="393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C7A5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+36.5% revenue jump in 2023</a:t>
            </a:r>
            <a:endParaRPr lang="en-US" sz="1100"/>
          </a:p>
        </p:txBody>
      </p:sp>
      <p:sp>
        <p:nvSpPr>
          <p:cNvPr id="8" name="AutoShape 7"/>
          <p:cNvSpPr/>
          <p:nvPr/>
        </p:nvSpPr>
        <p:spPr>
          <a:xfrm>
            <a:off x="7239000" y="2387600"/>
            <a:ext cx="3937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2A2D3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¥7.67亿 → ¥10.47亿, after the new three-party contribution (¥24 individual + ¥84 unit per year).</a:t>
            </a:r>
            <a:endParaRPr lang="en-US" sz="1100"/>
          </a:p>
        </p:txBody>
      </p:sp>
      <p:sp>
        <p:nvSpPr>
          <p:cNvPr id="9" name="AutoShape 8"/>
          <p:cNvSpPr/>
          <p:nvPr/>
        </p:nvSpPr>
        <p:spPr>
          <a:xfrm>
            <a:off x="7239000" y="3200400"/>
            <a:ext cx="393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C7A5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55.1% → 71.1% expenditure ratio</a:t>
            </a:r>
            <a:endParaRPr lang="en-US" sz="1100"/>
          </a:p>
        </p:txBody>
      </p:sp>
      <p:sp>
        <p:nvSpPr>
          <p:cNvPr id="10" name="AutoShape 9"/>
          <p:cNvSpPr/>
          <p:nvPr/>
        </p:nvSpPr>
        <p:spPr>
          <a:xfrm>
            <a:off x="7239000" y="3556000"/>
            <a:ext cx="393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2A2D3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Expenditure as a share of income, rising from 2023 to 2025.</a:t>
            </a:r>
            <a:endParaRPr lang="en-US" sz="1100"/>
          </a:p>
        </p:txBody>
      </p:sp>
      <p:sp>
        <p:nvSpPr>
          <p:cNvPr id="11" name="AutoShape 10"/>
          <p:cNvSpPr/>
          <p:nvPr/>
        </p:nvSpPr>
        <p:spPr>
          <a:xfrm>
            <a:off x="7239000" y="4191000"/>
            <a:ext cx="393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C7A5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Surplus peaked, then narrowed</a:t>
            </a:r>
            <a:endParaRPr lang="en-US" sz="1100"/>
          </a:p>
        </p:txBody>
      </p:sp>
      <p:sp>
        <p:nvSpPr>
          <p:cNvPr id="12" name="AutoShape 11"/>
          <p:cNvSpPr/>
          <p:nvPr/>
        </p:nvSpPr>
        <p:spPr>
          <a:xfrm>
            <a:off x="7239000" y="4546600"/>
            <a:ext cx="3937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2A2D3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Current surplus ¥4.70亿 (2023 peak) → ¥3.95亿 → ¥3.17亿 over two years.</a:t>
            </a:r>
            <a:endParaRPr lang="en-US" sz="1100"/>
          </a:p>
        </p:txBody>
      </p:sp>
      <p:sp>
        <p:nvSpPr>
          <p:cNvPr id="13" name="AutoShape 12"/>
          <p:cNvSpPr/>
          <p:nvPr/>
        </p:nvSpPr>
        <p:spPr>
          <a:xfrm>
            <a:off x="7239000" y="5384800"/>
            <a:ext cx="3937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4000"/>
              </a:lnSpc>
              <a:defRPr/>
            </a:pPr>
            <a:r>
              <a:rPr lang="en-US" sz="1100" b="0" i="1" u="none" strike="noStrike">
                <a:solidFill>
                  <a:srgbClr val="6B6A6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Descriptive observation only. The 2022 expenditure dip is flagged as an outlier; no causal claim is made.</a:t>
            </a:r>
            <a:endParaRPr lang="en-US" sz="1100"/>
          </a:p>
        </p:txBody>
      </p:sp>
      <p:sp>
        <p:nvSpPr>
          <p:cNvPr id="14" name="AutoShape 13"/>
          <p:cNvSpPr/>
          <p:nvPr/>
        </p:nvSpPr>
        <p:spPr>
          <a:xfrm>
            <a:off x="1016000" y="6400800"/>
            <a:ext cx="10414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2807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Source: Suzhou Healthcare Security Bureau, annual "LTCI Fund Income-Expenditure Disclosure" bulletins, 2021–2025 (figures exact to 10,000 yuan).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11200"/>
            <a:ext cx="635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C7A5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03 · RESEARCH QUESTIONS &amp; THEORY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016000"/>
            <a:ext cx="1041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500" b="1" i="0" u="none" strike="noStrike">
                <a:solidFill>
                  <a:srgbClr val="2A2D3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Three descriptive questions, one sustainability lens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16700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B4B2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1016000" y="2006600"/>
            <a:ext cx="76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4C7A5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RQ1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778000" y="20066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2A2D3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Where does the money come from?</a:t>
            </a:r>
            <a:r>
              <a:rPr lang="en-US" sz="1400" b="0" i="0" u="none" strike="noStrike">
                <a:solidFill>
                  <a:srgbClr val="2A2D3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How did the financing structure shift after 2023 — from medical-insurance transfers to three-party sharing, in shares and per-capita contributions.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3149600"/>
            <a:ext cx="76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4C7A5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RQ2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778000" y="31496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2A2D3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Where does it go?</a:t>
            </a:r>
            <a:r>
              <a:rPr lang="en-US" sz="1400" b="0" i="0" u="none" strike="noStrike">
                <a:solidFill>
                  <a:srgbClr val="2A2D3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How do benefit expenditure and the number of recipients move together across the five years.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4292600"/>
            <a:ext cx="76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4C7A5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RQ3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778000" y="42926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2A2D3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How do they co-vary?</a:t>
            </a:r>
            <a:r>
              <a:rPr lang="en-US" sz="1400" b="0" i="0" u="none" strike="noStrike">
                <a:solidFill>
                  <a:srgbClr val="2A2D3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The expenditure ratio and surplus path. This is temporal co-variation only — </a:t>
            </a:r>
            <a:r>
              <a:rPr lang="en-US" sz="1400" b="1" i="0" u="none" strike="noStrike">
                <a:solidFill>
                  <a:srgbClr val="2A2D3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no causal identification</a:t>
            </a:r>
            <a:r>
              <a:rPr lang="en-US" sz="1400" b="0" i="0" u="none" strike="noStrike">
                <a:solidFill>
                  <a:srgbClr val="2A2D3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.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5387809">
            <a:off x="5067300" y="3790961"/>
            <a:ext cx="3581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4CFC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7188200" y="2006600"/>
            <a:ext cx="406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6A6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THE THREE-OBJECTIVE LENS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188200" y="2362200"/>
            <a:ext cx="406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2A2D3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Affordability</a:t>
            </a:r>
            <a:r>
              <a:rPr lang="en-US" sz="1400" b="0" i="0" u="none" strike="noStrike">
                <a:solidFill>
                  <a:srgbClr val="2A2D3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— the financing side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400" b="1" i="0" u="none" strike="noStrike">
                <a:solidFill>
                  <a:srgbClr val="2A2D3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Adequacy</a:t>
            </a:r>
            <a:r>
              <a:rPr lang="en-US" sz="1400" b="0" i="0" u="none" strike="noStrike">
                <a:solidFill>
                  <a:srgbClr val="2A2D3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— the benefit side</a:t>
            </a:r>
            <a:endParaRPr lang="en-US" sz="1400" b="0" i="0" u="none" strike="noStrike">
              <a:solidFill>
                <a:srgbClr val="2A2D3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400" b="1" i="0" u="none" strike="noStrike">
                <a:solidFill>
                  <a:srgbClr val="2A2D3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Financial sustainability</a:t>
            </a:r>
            <a:r>
              <a:rPr lang="en-US" sz="1400" b="0" i="0" u="none" strike="noStrike">
                <a:solidFill>
                  <a:srgbClr val="2A2D3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— the balance side</a:t>
            </a:r>
            <a:endParaRPr lang="en-US" sz="1400" b="0" i="0" u="none" strike="noStrike">
              <a:solidFill>
                <a:srgbClr val="2A2D3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7188200" y="3683000"/>
            <a:ext cx="4064000" cy="914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sz="1400" b="1" i="0" u="none" strike="noStrike">
                <a:solidFill>
                  <a:srgbClr val="2A2D3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Pay-as-you-go:</a:t>
            </a:r>
            <a:r>
              <a:rPr lang="en-US" sz="1400" b="0" i="0" u="none" strike="noStrike">
                <a:solidFill>
                  <a:srgbClr val="2A2D3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an ageing dependency ratio strains the balance between contributors and recipients.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188200" y="4775200"/>
            <a:ext cx="406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sz="1400" b="1" i="0" u="none" strike="noStrike">
                <a:solidFill>
                  <a:srgbClr val="4C7A5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Falsifiable expectation:</a:t>
            </a:r>
            <a:r>
              <a:rPr lang="en-US" sz="1400" b="0" i="0" u="none" strike="noStrike">
                <a:solidFill>
                  <a:srgbClr val="4C7A5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if the reform merely enlarged the pool, the surplus should stay flat or rise. It did not — a puzzle left to 2026–27 data.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016000" y="6350000"/>
            <a:ext cx="1041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1" u="none" strike="noStrike">
                <a:solidFill>
                  <a:srgbClr val="6B6A6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All three questions are descriptive, not policy evaluation or causal tests.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11200"/>
            <a:ext cx="635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C7A5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04 · RESEARCH SIGNIFICANCE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016000"/>
            <a:ext cx="1041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2A2D3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Why this matters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16700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B4B2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1016000" y="20574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4C7A5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Theoretical contribution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489200"/>
            <a:ext cx="4826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2A2D3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Existing work is mostly cross-city policy comparison or macro actuarial projection to 2050.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2A2D3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This study tracks one city's </a:t>
            </a:r>
            <a:r>
              <a:rPr lang="en-US" sz="1400" b="1" i="0" u="none" strike="noStrike">
                <a:solidFill>
                  <a:srgbClr val="2A2D3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real annual books</a:t>
            </a:r>
            <a:r>
              <a:rPr lang="en-US" sz="1400" b="0" i="0" u="none" strike="noStrike">
                <a:solidFill>
                  <a:srgbClr val="2A2D3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over time, and applies the three-objective framework to the "sixth insurance" in its first independent-account year.</a:t>
            </a:r>
            <a:endParaRPr lang="en-US" sz="1400" b="0" i="0" u="none" strike="noStrike">
              <a:solidFill>
                <a:srgbClr val="2A2D3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6350000" y="20574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4C7A5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Practical contribution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350000" y="2489200"/>
            <a:ext cx="4826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2A2D3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As the 2026 nationwide rollout asks localities to converge on the national contribution rate, Suzhou is an early sample.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2A2D3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Honest small-n reporting — showing outliers, missing data and limits — is itself policy-relevant.</a:t>
            </a:r>
            <a:endParaRPr lang="en-US" sz="1400" b="0" i="0" u="none" strike="noStrike">
              <a:solidFill>
                <a:srgbClr val="2A2D3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cxnSp>
        <p:nvCxnSpPr>
          <p:cNvPr id="9" name="Connector 9"/>
          <p:cNvCxnSpPr/>
          <p:nvPr/>
        </p:nvCxnSpPr>
        <p:spPr>
          <a:xfrm rot="-4297">
            <a:off x="1016004" y="4438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4CFC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1016000" y="4724400"/>
            <a:ext cx="4826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6B6A6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Scope boundary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16000" y="5080000"/>
            <a:ext cx="990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2A2D3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Descriptive only. Suzhou is an affluent, highly urbanised, fiscally strong prefecture city; findings are a single observational case and are </a:t>
            </a:r>
            <a:r>
              <a:rPr lang="en-US" sz="1400" b="1" i="0" u="none" strike="noStrike">
                <a:solidFill>
                  <a:srgbClr val="2A2D3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not extrapolated to the whole country</a:t>
            </a:r>
            <a:r>
              <a:rPr lang="en-US" sz="1400" b="0" i="0" u="none" strike="noStrike">
                <a:solidFill>
                  <a:srgbClr val="2A2D3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. No claim is made about the 2023 reform's causal effect.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11200"/>
            <a:ext cx="635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C7A5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05 · METHODOLOGY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016000"/>
            <a:ext cx="1041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2A2D3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How will </a:t>
            </a:r>
            <a:r>
              <a:rPr lang="en-US" sz="2600" b="1">
                <a:solidFill>
                  <a:srgbClr val="2A2D3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we </a:t>
            </a:r>
            <a:r>
              <a:rPr lang="en-US" sz="2600" b="1" i="0" u="none" strike="noStrike">
                <a:solidFill>
                  <a:srgbClr val="2A2D3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study it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16700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B4B2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1016000" y="20066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4C7A5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Data collection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438400"/>
            <a:ext cx="4826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2A2D3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Secondary official data</a:t>
            </a:r>
            <a:r>
              <a:rPr lang="en-US" sz="1400" b="0" i="0" u="none" strike="noStrike">
                <a:solidFill>
                  <a:srgbClr val="2A2D3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, single descriptive case — no survey or interview, because the object is a city-level book with no sample population.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400" b="1" i="0" u="none" strike="noStrike">
                <a:solidFill>
                  <a:srgbClr val="2A2D3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Main source:</a:t>
            </a:r>
            <a:r>
              <a:rPr lang="en-US" sz="1400" b="0" i="0" u="none" strike="noStrike">
                <a:solidFill>
                  <a:srgbClr val="2A2D3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Suzhou Healthcare Security Bureau annual "LTCI Fund Income-Expenditure Disclosure", 2021–2025, exact to the yuan.</a:t>
            </a:r>
            <a:endParaRPr lang="en-US" sz="1400" b="0" i="0" u="none" strike="noStrike">
              <a:solidFill>
                <a:srgbClr val="2A2D3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400" b="1" i="0" u="none" strike="noStrike">
                <a:solidFill>
                  <a:srgbClr val="2A2D3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Supplementary:</a:t>
            </a:r>
            <a:r>
              <a:rPr lang="en-US" sz="1400" b="0" i="0" u="none" strike="noStrike">
                <a:solidFill>
                  <a:srgbClr val="2A2D3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work summaries, press releases, NHSA national bulletin.</a:t>
            </a:r>
            <a:endParaRPr lang="en-US" sz="1400" b="0" i="0" u="none" strike="noStrike">
              <a:solidFill>
                <a:srgbClr val="2A2D3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400" b="1" i="0" u="none" strike="noStrike">
                <a:solidFill>
                  <a:srgbClr val="2A2D3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Missing years</a:t>
            </a:r>
            <a:r>
              <a:rPr lang="en-US" sz="1400" b="0" i="0" u="none" strike="noStrike">
                <a:solidFill>
                  <a:srgbClr val="2A2D3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(2017–20) are marked estimated or pending — never fabricated.</a:t>
            </a:r>
            <a:endParaRPr lang="en-US" sz="1400" b="0" i="0" u="none" strike="noStrike">
              <a:solidFill>
                <a:srgbClr val="2A2D3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6350000" y="20066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4C7A5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Data analysis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350000" y="2438400"/>
            <a:ext cx="4826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2A2D3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Two-segment breakpoint:</a:t>
            </a:r>
            <a:r>
              <a:rPr lang="en-US" sz="1400" b="0" i="0" u="none" strike="noStrike">
                <a:solidFill>
                  <a:srgbClr val="2A2D3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2021–22 (old rule) versus 2023–25 (new rule), separated; no line fitted across the breakpoint.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400" b="1" i="0" u="none" strike="noStrike">
                <a:solidFill>
                  <a:srgbClr val="2A2D3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Within segment only:</a:t>
            </a:r>
            <a:r>
              <a:rPr lang="en-US" sz="1400" b="0" i="0" u="none" strike="noStrike">
                <a:solidFill>
                  <a:srgbClr val="2A2D3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growth rates, expenditure-to-income ratio, financing-source shares and per-capita contributions.</a:t>
            </a:r>
            <a:endParaRPr lang="en-US" sz="1400" b="0" i="0" u="none" strike="noStrike">
              <a:solidFill>
                <a:srgbClr val="2A2D3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400" b="1" i="0" u="none" strike="noStrike">
                <a:solidFill>
                  <a:srgbClr val="2A2D3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Descriptive statistics</a:t>
            </a:r>
            <a:r>
              <a:rPr lang="en-US" sz="1400" b="0" i="0" u="none" strike="noStrike">
                <a:solidFill>
                  <a:srgbClr val="2A2D3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— no causal identification; no control group or mechanism data available.</a:t>
            </a:r>
            <a:endParaRPr lang="en-US" sz="1400" b="0" i="0" u="none" strike="noStrike">
              <a:solidFill>
                <a:srgbClr val="2A2D3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cxnSp>
        <p:nvCxnSpPr>
          <p:cNvPr id="9" name="Connector 9"/>
          <p:cNvCxnSpPr/>
          <p:nvPr/>
        </p:nvCxnSpPr>
        <p:spPr>
          <a:xfrm rot="-4297">
            <a:off x="1016004" y="5454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4CFC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1016000" y="5664200"/>
            <a:ext cx="1041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6B6A6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Plan:</a:t>
            </a:r>
            <a:r>
              <a:rPr lang="en-US" sz="1300" b="0" i="0" u="none" strike="noStrike">
                <a:solidFill>
                  <a:srgbClr val="6B6A6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Weeks 1–2 collect and verify · Week 3 draw two-segment charts · Weeks 4–5 write and reconcile · Week 6 present. Key limit: current-surplus only, cumulative balance not published.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4592</Words>
  <Application>WPS 演示</Application>
  <PresentationFormat/>
  <Paragraphs>121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</vt:i4>
      </vt:variant>
    </vt:vector>
  </HeadingPairs>
  <TitlesOfParts>
    <vt:vector size="15" baseType="lpstr">
      <vt:lpstr>Arial</vt:lpstr>
      <vt:lpstr>宋体</vt:lpstr>
      <vt:lpstr>Wingdings</vt:lpstr>
      <vt:lpstr>Arial</vt:lpstr>
      <vt:lpstr>Times New Roman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赣北庐陵人</cp:lastModifiedBy>
  <cp:revision>3</cp:revision>
  <dcterms:created xsi:type="dcterms:W3CDTF">2026-09-20T17:20:00Z</dcterms:created>
  <dcterms:modified xsi:type="dcterms:W3CDTF">2026-09-20T17:26:13Z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{"Label":"1","ContentProducer":"001191110102MACQD9K64010000","ProduceID":"7687667770302173396","ReservedCode1":"","ContentPropagator":"","PropagateID":"","ReservedCode2":""}</vt:lpwstr>
  </property>
  <property fmtid="{D5CDD505-2E9C-101B-9397-08002B2CF9AE}" pid="3" name="ICV">
    <vt:lpwstr>2D2F134EF3A243718AA45780856A7563_12</vt:lpwstr>
  </property>
  <property fmtid="{D5CDD505-2E9C-101B-9397-08002B2CF9AE}" pid="4" name="KSOProductBuildVer">
    <vt:lpwstr>2052-12.1.0.28505</vt:lpwstr>
  </property>
</Properties>
</file>